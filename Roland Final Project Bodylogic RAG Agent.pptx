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 ExtraBold"/>
      <p:bold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oboto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SemiBold-bold.fntdata"/><Relationship Id="rId23" Type="http://schemas.openxmlformats.org/officeDocument/2006/relationships/font" Target="fonts/Roboto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SemiBold-boldItalic.fntdata"/><Relationship Id="rId25" Type="http://schemas.openxmlformats.org/officeDocument/2006/relationships/font" Target="fonts/Roboto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ExtraBold-bold.fntdata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font" Target="fonts/Roboto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cb0f48572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cb0f48572_1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b29caa0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b29caa0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c512b3f3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c512b3f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the BodyLogic </a:t>
            </a:r>
            <a:r>
              <a:rPr b="1" lang="en">
                <a:solidFill>
                  <a:schemeClr val="dk1"/>
                </a:solidFill>
              </a:rPr>
              <a:t>RAG Agent with Tools and Conversational Memory</a:t>
            </a:r>
            <a:r>
              <a:rPr lang="en">
                <a:solidFill>
                  <a:schemeClr val="dk1"/>
                </a:solidFill>
              </a:rPr>
              <a:t> query flow.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a </a:t>
            </a:r>
            <a:r>
              <a:rPr b="1" lang="en">
                <a:solidFill>
                  <a:schemeClr val="dk1"/>
                </a:solidFill>
              </a:rPr>
              <a:t>user submits a query</a:t>
            </a:r>
            <a:r>
              <a:rPr lang="en">
                <a:solidFill>
                  <a:schemeClr val="dk1"/>
                </a:solidFill>
              </a:rPr>
              <a:t>, it's first enriched by </a:t>
            </a:r>
            <a:r>
              <a:rPr b="1" lang="en">
                <a:solidFill>
                  <a:schemeClr val="dk1"/>
                </a:solidFill>
              </a:rPr>
              <a:t>Conversational Memory</a:t>
            </a:r>
            <a:r>
              <a:rPr lang="en">
                <a:solidFill>
                  <a:schemeClr val="dk1"/>
                </a:solidFill>
              </a:rPr>
              <a:t> for context. The query then goes to an </a:t>
            </a:r>
            <a:r>
              <a:rPr b="1" lang="en">
                <a:solidFill>
                  <a:schemeClr val="dk1"/>
                </a:solidFill>
              </a:rPr>
              <a:t>LLM (OpenAI's GPT)</a:t>
            </a:r>
            <a:r>
              <a:rPr lang="en">
                <a:solidFill>
                  <a:schemeClr val="dk1"/>
                </a:solidFill>
              </a:rPr>
              <a:t>, which decides if it needs to: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Retrieve Information (RAG):</a:t>
            </a:r>
            <a:r>
              <a:rPr lang="en">
                <a:solidFill>
                  <a:schemeClr val="dk1"/>
                </a:solidFill>
              </a:rPr>
              <a:t> If knowledge base retrieval is needed, the query is embedded by a </a:t>
            </a:r>
            <a:r>
              <a:rPr b="1" lang="en">
                <a:solidFill>
                  <a:schemeClr val="dk1"/>
                </a:solidFill>
              </a:rPr>
              <a:t>SentenceTransformer</a:t>
            </a:r>
            <a:r>
              <a:rPr lang="en">
                <a:solidFill>
                  <a:schemeClr val="dk1"/>
                </a:solidFill>
              </a:rPr>
              <a:t> and used to fetch relevant documents from the  </a:t>
            </a:r>
            <a:r>
              <a:rPr b="1" lang="en">
                <a:solidFill>
                  <a:schemeClr val="dk1"/>
                </a:solidFill>
              </a:rPr>
              <a:t>Pinecone Vector Database</a:t>
            </a:r>
            <a:r>
              <a:rPr lang="en">
                <a:solidFill>
                  <a:schemeClr val="dk1"/>
                </a:solidFill>
              </a:rPr>
              <a:t> (ensuring matching 768-dimension embeddings).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Use Tools:</a:t>
            </a:r>
            <a:r>
              <a:rPr lang="en">
                <a:solidFill>
                  <a:schemeClr val="dk1"/>
                </a:solidFill>
              </a:rPr>
              <a:t> If the query requires specific actions like the estimator tool, the LLM intelligently calls one of the available </a:t>
            </a:r>
            <a:r>
              <a:rPr b="1" lang="en">
                <a:solidFill>
                  <a:schemeClr val="dk1"/>
                </a:solidFill>
              </a:rPr>
              <a:t>tools.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LLM then synthesizes information from the retrieved documents and tool outputs, and combines it with conversation history to provide a </a:t>
            </a:r>
            <a:r>
              <a:rPr b="1" lang="en">
                <a:solidFill>
                  <a:schemeClr val="dk1"/>
                </a:solidFill>
              </a:rPr>
              <a:t>final, informed response</a:t>
            </a:r>
            <a:r>
              <a:rPr lang="en">
                <a:solidFill>
                  <a:schemeClr val="dk1"/>
                </a:solidFill>
              </a:rPr>
              <a:t> back to the user through the Streamlit application.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b29caa05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b29caa05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b29caa05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b29caa0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Agent leverages a four-step LangChain Runnable Chain, OpenAI's gpt-3.5-turbo, a Pinecone Vector Database, and several custom tools to provide safe, practical fitness advice. The system incorporates a manual sliding window memory, a detailed prompt template, and is deployed using Streamlit with LangSmith tracing enabled for observability.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b29caa0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b29caa0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b29caa0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b29caa0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2204f8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12204f8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c512b3f3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c512b3f3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b29caa0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b29caa0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914400" y="17145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BodyLogic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914400" y="2697485"/>
            <a:ext cx="7315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E6E6E6"/>
                </a:solidFill>
                <a:latin typeface="Roboto"/>
                <a:ea typeface="Roboto"/>
                <a:cs typeface="Roboto"/>
                <a:sym typeface="Roboto"/>
              </a:rPr>
              <a:t>Your Personal Health &amp; Fitness AI Agent</a:t>
            </a:r>
            <a:endParaRPr b="0" i="0" sz="3200" u="none" cap="none" strike="noStrike">
              <a:solidFill>
                <a:srgbClr val="E6E6E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E6E6E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2" name="Google Shape;132;p25"/>
          <p:cNvGrpSpPr/>
          <p:nvPr/>
        </p:nvGrpSpPr>
        <p:grpSpPr>
          <a:xfrm>
            <a:off x="5443400" y="900725"/>
            <a:ext cx="1456950" cy="2824375"/>
            <a:chOff x="5443400" y="900725"/>
            <a:chExt cx="1456950" cy="2824375"/>
          </a:xfrm>
        </p:grpSpPr>
        <p:sp>
          <p:nvSpPr>
            <p:cNvPr id="133" name="Google Shape;133;p25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48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050" lIns="58050" spcFirstLastPara="1" rIns="58050" wrap="square" tIns="58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9"/>
            </a:p>
          </p:txBody>
        </p:sp>
        <p:sp>
          <p:nvSpPr>
            <p:cNvPr id="134" name="Google Shape;134;p25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8050" lIns="58050" spcFirstLastPara="1" rIns="58050" wrap="square" tIns="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28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2728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135" name="Google Shape;135;p25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Overview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228875" y="2456829"/>
            <a:ext cx="8520600" cy="3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Imagine a friendly online coach that provides health advice on these topics using up to date, handpicked videos from Youtube…”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Welcome to BodyLogic.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621200" y="1242400"/>
            <a:ext cx="2567700" cy="1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 Under </a:t>
            </a: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Exercising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36% of UK adults do not meet exercise guidelines.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3188900" y="1252750"/>
            <a:ext cx="29817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Excess Calories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Public Health England has estimated that adults in England are eating roughly 200–300 excess calories per day.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233675" y="1159550"/>
            <a:ext cx="2515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Unknown Intake</a:t>
            </a:r>
            <a:b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Surveys show that only about 20–35% of adults can correctly identify the recommended daily calorie intake.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46" name="Google Shape;146;p26"/>
          <p:cNvGrpSpPr/>
          <p:nvPr/>
        </p:nvGrpSpPr>
        <p:grpSpPr>
          <a:xfrm>
            <a:off x="4076630" y="3882458"/>
            <a:ext cx="825071" cy="1599444"/>
            <a:chOff x="5443400" y="900725"/>
            <a:chExt cx="1456950" cy="2824375"/>
          </a:xfrm>
        </p:grpSpPr>
        <p:sp>
          <p:nvSpPr>
            <p:cNvPr id="147" name="Google Shape;147;p26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27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875" lIns="32875" spcFirstLastPara="1" rIns="32875" wrap="square" tIns="3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8"/>
            </a:p>
          </p:txBody>
        </p:sp>
        <p:sp>
          <p:nvSpPr>
            <p:cNvPr id="148" name="Google Shape;148;p26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2875" lIns="32875" spcFirstLastPara="1" rIns="32875" wrap="square" tIns="3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45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1545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149" name="Google Shape;149;p26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7" title="Gemini_Generated_Image_18p43v18p43v18p4.png"/>
          <p:cNvPicPr preferRelativeResize="0"/>
          <p:nvPr/>
        </p:nvPicPr>
        <p:blipFill rotWithShape="1">
          <a:blip r:embed="rId3">
            <a:alphaModFix/>
          </a:blip>
          <a:srcRect b="11229" l="0" r="0" t="0"/>
          <a:stretch/>
        </p:blipFill>
        <p:spPr>
          <a:xfrm>
            <a:off x="-3" y="352008"/>
            <a:ext cx="9144001" cy="45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Technical Summary </a:t>
            </a:r>
            <a:endParaRPr sz="2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Dataset and Processing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86600" y="1138850"/>
            <a:ext cx="23814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Data Selection and ingestion</a:t>
            </a:r>
            <a:endParaRPr sz="1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Data comes from expertly curated Youtube videos focusing on health and fitness.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data processing uses the specialized 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YouTubeTranscriptApi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library.</a:t>
            </a:r>
            <a:b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3307950" y="1138850"/>
            <a:ext cx="2474400" cy="24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Processing</a:t>
            </a:r>
            <a:endParaRPr sz="1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broke it into overlapping chunks of about 500 characters with 50‑character overlap.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6222300" y="1138850"/>
            <a:ext cx="2526300" cy="30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Vectorization</a:t>
            </a:r>
            <a:endParaRPr sz="1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processed data is converted into vectors and stored in the Pinecone Vector Database using the all-mpnet-base-v2 model - a good all round model for semantic search.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Q&amp;A Agent 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333250" y="1171500"/>
            <a:ext cx="2680500" cy="3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General Architecture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End-to-End Workflow: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4 -Step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LangChain Runnable Chain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Core reasoning: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OpenAI's gpt-3.5-turbo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RAG Retrieval: 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Uses a SentenceTransformer (all-mpnet-base-v2) to embed the user's query and retrieve context from the Vector Database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Tools: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LLM can access and execute tools in the chain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3144700" y="1171500"/>
            <a:ext cx="25785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 Memory and Vector DB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Memory: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global Python list stores the last 20 messages as conversation history.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Vector Database: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Pinecone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5854150" y="1171500"/>
            <a:ext cx="3157800" cy="41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</a:t>
            </a: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</a:t>
            </a: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Prompt Template: 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System Message is the main prompt template, setting the agent's identity and providing strict instructions: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Persona: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"friendly, evidence-based personal trainer and RAG assistant."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Give safe, practical fitness advice and explain reasoning clearly.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Contextual Rule: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"Always use the retrieved knowledge base context when it is relevant."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Tool Use Rules: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Contains explicit, mandatory rules for when to call each of the five custom tools (e.g., "you MUST call the estimate_targets tool" for macro queries).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Tools 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577925" y="1314775"/>
            <a:ext cx="39942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Database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Pinecone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knowledge base is built from the transcripts and content of selected YouTube videos.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raw video content was processed (transcribed, chunked, and then converted into dense numerical vectors) using an embedding model sentence-transformers/all-mpnet-base-v2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general-purpose model from the Hugging Face ecosystem, specifically designed for creating embeddings that capture the semantic meaning of text.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4883425" y="1343675"/>
            <a:ext cx="39489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Tools: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Calorie and/or Macro Target Calculation.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tool is engineered to estimate a user's target calorie and/or macronutrient intake.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takes structured inputs (like age, weight, activity level) and returns a structured output (estimated calorie/macro numbers).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If a user Submits the query: "I am a 50 year old male 80kg what should be my calories targets be? “  The LLM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decides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use the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estimator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tool and then gives back a friendly response to the user.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Evaluation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504275" y="1512800"/>
            <a:ext cx="24672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Qualitative Testing: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 used  test “Demo Prompts"</a:t>
            </a:r>
            <a:r>
              <a:rPr lang="en" sz="1200">
                <a:solidFill>
                  <a:schemeClr val="lt1"/>
                </a:solidFill>
              </a:rPr>
              <a:t> that serve as a basic test suite, covering RAG, tool use, and conversational memory to see if it was working as expected.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3386400" y="1433450"/>
            <a:ext cx="2371200" cy="3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Traceability and Debugging: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LangSmith is used to log, visualize, and analyze every step of the LangChain RunnableSequence.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 used this to check if my tools were being called and then adjusted the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prompt when they were not.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6172525" y="1433450"/>
            <a:ext cx="23712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Performance metrics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Performance metrics tracked in Langsmith such as  the Latency and the tokens used.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Conclusion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528000" y="1915350"/>
            <a:ext cx="23709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BodyLogic makes expert fitness advice from videos accessible to those who prefer reading or quick answers over watching entire videos.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3142188" y="1915350"/>
            <a:ext cx="2671200" cy="1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nables efficient indexing and searching, and empowers you to instantly finds specific information from the expertly curated video knowledge on important health challenges many people face.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6201625" y="1915350"/>
            <a:ext cx="23709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gives safe, practical fitness advice, tailors suggestions to the user's level and goals, and clearly explains reasoning in simple language.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01" name="Google Shape;201;p32"/>
          <p:cNvGrpSpPr/>
          <p:nvPr/>
        </p:nvGrpSpPr>
        <p:grpSpPr>
          <a:xfrm>
            <a:off x="4076630" y="3727159"/>
            <a:ext cx="825071" cy="1599444"/>
            <a:chOff x="5443400" y="900725"/>
            <a:chExt cx="1456950" cy="2824375"/>
          </a:xfrm>
        </p:grpSpPr>
        <p:sp>
          <p:nvSpPr>
            <p:cNvPr id="202" name="Google Shape;202;p32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27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875" lIns="32875" spcFirstLastPara="1" rIns="32875" wrap="square" tIns="3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8"/>
            </a:p>
          </p:txBody>
        </p:sp>
        <p:sp>
          <p:nvSpPr>
            <p:cNvPr id="203" name="Google Shape;203;p32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2875" lIns="32875" spcFirstLastPara="1" rIns="32875" wrap="square" tIns="3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45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1545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204" name="Google Shape;204;p32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Learning and Next steps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Further iterations of this could be:-</a:t>
            </a:r>
            <a:endParaRPr sz="14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Improved memory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Deploy as an API endpoint using AWS App Runner and a custom front end.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Try different types of content in the Vector DB.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Private RAG system with the Database and the User queries in a VPC.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more efficient data ingestion system.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-10349" y="-10354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34"/>
          <p:cNvGrpSpPr/>
          <p:nvPr/>
        </p:nvGrpSpPr>
        <p:grpSpPr>
          <a:xfrm>
            <a:off x="4702850" y="1107783"/>
            <a:ext cx="1456950" cy="2824375"/>
            <a:chOff x="5443400" y="900725"/>
            <a:chExt cx="1456950" cy="2824375"/>
          </a:xfrm>
        </p:grpSpPr>
        <p:sp>
          <p:nvSpPr>
            <p:cNvPr id="218" name="Google Shape;218;p34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48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050" lIns="58050" spcFirstLastPara="1" rIns="58050" wrap="square" tIns="58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9"/>
            </a:p>
          </p:txBody>
        </p:sp>
        <p:sp>
          <p:nvSpPr>
            <p:cNvPr id="219" name="Google Shape;219;p34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8050" lIns="58050" spcFirstLastPara="1" rIns="58050" wrap="square" tIns="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28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2728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220" name="Google Shape;220;p34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34"/>
          <p:cNvSpPr txBox="1"/>
          <p:nvPr/>
        </p:nvSpPr>
        <p:spPr>
          <a:xfrm>
            <a:off x="2715201" y="1890500"/>
            <a:ext cx="3051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