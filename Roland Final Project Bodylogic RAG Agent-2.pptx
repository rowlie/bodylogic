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 ExtraBold"/>
      <p:bold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Roboto SemiBold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ExtraBold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SemiBold-bold.fntdata"/><Relationship Id="rId25" Type="http://schemas.openxmlformats.org/officeDocument/2006/relationships/font" Target="fonts/RobotoSemiBold-regular.fntdata"/><Relationship Id="rId28" Type="http://schemas.openxmlformats.org/officeDocument/2006/relationships/font" Target="fonts/RobotoSemiBold-boldItalic.fntdata"/><Relationship Id="rId27" Type="http://schemas.openxmlformats.org/officeDocument/2006/relationships/font" Target="fonts/Roboto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ExtraBold-bold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cb0f48572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cb0f48572_1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b29caa0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b29caa0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Lots of people struggle with these three topics, body logic is the solution.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c512b3f3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c512b3f3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is the V1 BodyLogic </a:t>
            </a:r>
            <a:r>
              <a:rPr b="1" lang="en">
                <a:solidFill>
                  <a:schemeClr val="dk1"/>
                </a:solidFill>
              </a:rPr>
              <a:t>RAG Agent with Tools and Conversational Memory</a:t>
            </a:r>
            <a:r>
              <a:rPr lang="en">
                <a:solidFill>
                  <a:schemeClr val="dk1"/>
                </a:solidFill>
              </a:rPr>
              <a:t> query flow.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a </a:t>
            </a:r>
            <a:r>
              <a:rPr b="1" lang="en">
                <a:solidFill>
                  <a:schemeClr val="dk1"/>
                </a:solidFill>
              </a:rPr>
              <a:t>user submits a query</a:t>
            </a:r>
            <a:r>
              <a:rPr lang="en">
                <a:solidFill>
                  <a:schemeClr val="dk1"/>
                </a:solidFill>
              </a:rPr>
              <a:t>, it's first enriched by </a:t>
            </a:r>
            <a:r>
              <a:rPr b="1" lang="en">
                <a:solidFill>
                  <a:schemeClr val="dk1"/>
                </a:solidFill>
              </a:rPr>
              <a:t>Conversational Memory</a:t>
            </a:r>
            <a:r>
              <a:rPr lang="en">
                <a:solidFill>
                  <a:schemeClr val="dk1"/>
                </a:solidFill>
              </a:rPr>
              <a:t> for context. The query then goes to an </a:t>
            </a:r>
            <a:r>
              <a:rPr b="1" lang="en">
                <a:solidFill>
                  <a:schemeClr val="dk1"/>
                </a:solidFill>
              </a:rPr>
              <a:t>LLM (OpenAI's GPT)</a:t>
            </a:r>
            <a:r>
              <a:rPr lang="en">
                <a:solidFill>
                  <a:schemeClr val="dk1"/>
                </a:solidFill>
              </a:rPr>
              <a:t>, which decides if it needs to: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Retrieve Information (RAG):</a:t>
            </a:r>
            <a:r>
              <a:rPr lang="en">
                <a:solidFill>
                  <a:schemeClr val="dk1"/>
                </a:solidFill>
              </a:rPr>
              <a:t> If knowledge base retrieval is needed, the query is embedded by a </a:t>
            </a:r>
            <a:r>
              <a:rPr b="1" lang="en">
                <a:solidFill>
                  <a:schemeClr val="dk1"/>
                </a:solidFill>
              </a:rPr>
              <a:t>SentenceTransformer</a:t>
            </a:r>
            <a:r>
              <a:rPr lang="en">
                <a:solidFill>
                  <a:schemeClr val="dk1"/>
                </a:solidFill>
              </a:rPr>
              <a:t> and used to fetch relevant documents from the  </a:t>
            </a:r>
            <a:r>
              <a:rPr b="1" lang="en">
                <a:solidFill>
                  <a:schemeClr val="dk1"/>
                </a:solidFill>
              </a:rPr>
              <a:t>Pinecone Vector Database</a:t>
            </a:r>
            <a:r>
              <a:rPr lang="en">
                <a:solidFill>
                  <a:schemeClr val="dk1"/>
                </a:solidFill>
              </a:rPr>
              <a:t> (ensuring matching 768-dimension embeddings).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Use Tools:</a:t>
            </a:r>
            <a:r>
              <a:rPr lang="en">
                <a:solidFill>
                  <a:schemeClr val="dk1"/>
                </a:solidFill>
              </a:rPr>
              <a:t> If the query requires specific actions like the estimator tool, the LLM  calls one of the available </a:t>
            </a:r>
            <a:r>
              <a:rPr b="1" lang="en">
                <a:solidFill>
                  <a:schemeClr val="dk1"/>
                </a:solidFill>
              </a:rPr>
              <a:t>tools.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The LLM then synthesizes information from the retrieved documents and tool outputs, and combines it with conversation history to provide a </a:t>
            </a:r>
            <a:r>
              <a:rPr b="1" lang="en">
                <a:solidFill>
                  <a:schemeClr val="dk1"/>
                </a:solidFill>
              </a:rPr>
              <a:t>final, informed response</a:t>
            </a:r>
            <a:r>
              <a:rPr lang="en">
                <a:solidFill>
                  <a:schemeClr val="dk1"/>
                </a:solidFill>
              </a:rPr>
              <a:t> back to the user through the Streamlit application.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Limitations</a:t>
            </a:r>
            <a:r>
              <a:rPr lang="en">
                <a:solidFill>
                  <a:schemeClr val="dk1"/>
                </a:solidFill>
              </a:rPr>
              <a:t> The V1 code uses a custom </a:t>
            </a:r>
            <a:r>
              <a:rPr b="1" lang="en">
                <a:solidFill>
                  <a:schemeClr val="dk1"/>
                </a:solidFill>
              </a:rPr>
              <a:t>LangChain Expression Language (LCEL) chain</a:t>
            </a:r>
            <a:r>
              <a:rPr lang="en">
                <a:solidFill>
                  <a:schemeClr val="dk1"/>
                </a:solidFill>
              </a:rPr>
              <a:t> (i.e., a series of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RunnableLambda </a:t>
            </a:r>
            <a:r>
              <a:rPr lang="en">
                <a:solidFill>
                  <a:schemeClr val="dk1"/>
                </a:solidFill>
              </a:rPr>
              <a:t>functions piped together). This approach </a:t>
            </a:r>
            <a:r>
              <a:rPr b="1" lang="en">
                <a:solidFill>
                  <a:schemeClr val="dk1"/>
                </a:solidFill>
              </a:rPr>
              <a:t>does not automatically recognize or integrate</a:t>
            </a:r>
            <a:r>
              <a:rPr lang="en">
                <a:solidFill>
                  <a:schemeClr val="dk1"/>
                </a:solidFill>
              </a:rPr>
              <a:t> a standalone LangChain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Memory,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V1 uses the custom LCEL (LangChain Expression Language) chain architecture, which requires manual tool execution. </a:t>
            </a:r>
            <a:r>
              <a:rPr lang="en">
                <a:solidFill>
                  <a:schemeClr val="dk1"/>
                </a:solidFill>
              </a:rPr>
              <a:t>In V1, the LLM isn't doing deep "reasoning" about the user's intent to decide on a tool; it's using a built-in, highly </a:t>
            </a:r>
            <a:r>
              <a:rPr b="1" lang="en">
                <a:solidFill>
                  <a:schemeClr val="dk1"/>
                </a:solidFill>
              </a:rPr>
              <a:t>structured feature</a:t>
            </a:r>
            <a:r>
              <a:rPr lang="en">
                <a:solidFill>
                  <a:schemeClr val="dk1"/>
                </a:solidFill>
              </a:rPr>
              <a:t> called </a:t>
            </a:r>
            <a:r>
              <a:rPr b="1" lang="en">
                <a:solidFill>
                  <a:schemeClr val="dk1"/>
                </a:solidFill>
              </a:rPr>
              <a:t>Function Calling</a:t>
            </a:r>
            <a:r>
              <a:rPr lang="en">
                <a:solidFill>
                  <a:schemeClr val="dk1"/>
                </a:solidFill>
              </a:rPr>
              <a:t> (or Tool Binding).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d28d1ea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d28d1ea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V2,The </a:t>
            </a:r>
            <a:r>
              <a:rPr b="1" lang="en">
                <a:solidFill>
                  <a:schemeClr val="dk1"/>
                </a:solidFill>
              </a:rPr>
              <a:t>Agent Executor</a:t>
            </a:r>
            <a:r>
              <a:rPr lang="en">
                <a:solidFill>
                  <a:schemeClr val="dk1"/>
                </a:solidFill>
              </a:rPr>
              <a:t> orchestrates the entire workflow, utilizing the </a:t>
            </a:r>
            <a:r>
              <a:rPr b="1" lang="en">
                <a:solidFill>
                  <a:schemeClr val="dk1"/>
                </a:solidFill>
              </a:rPr>
              <a:t>ZERO_SHOT_REACT_DESCRIPTION </a:t>
            </a:r>
            <a:r>
              <a:rPr lang="en">
                <a:solidFill>
                  <a:schemeClr val="dk1"/>
                </a:solidFill>
              </a:rPr>
              <a:t>framework to allow the LLM to dynamically reason, plan, and choose external tools. It uses </a:t>
            </a:r>
            <a:r>
              <a:rPr b="1" lang="en">
                <a:solidFill>
                  <a:schemeClr val="dk1"/>
                </a:solidFill>
              </a:rPr>
              <a:t>ReAct</a:t>
            </a:r>
            <a:r>
              <a:rPr lang="en">
                <a:solidFill>
                  <a:schemeClr val="dk1"/>
                </a:solidFill>
              </a:rPr>
              <a:t> (Reasoning and Acting) framework, allowing the LLM to generate internal </a:t>
            </a:r>
            <a:r>
              <a:rPr b="1" lang="en">
                <a:solidFill>
                  <a:schemeClr val="dk1"/>
                </a:solidFill>
              </a:rPr>
              <a:t>Thoughts</a:t>
            </a:r>
            <a:r>
              <a:rPr lang="en">
                <a:solidFill>
                  <a:schemeClr val="dk1"/>
                </a:solidFill>
              </a:rPr>
              <a:t> and choose the best </a:t>
            </a:r>
            <a:r>
              <a:rPr b="1" lang="en">
                <a:solidFill>
                  <a:schemeClr val="dk1"/>
                </a:solidFill>
              </a:rPr>
              <a:t>Action.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agent system is also augmented with </a:t>
            </a:r>
            <a:r>
              <a:rPr b="1" lang="en">
                <a:solidFill>
                  <a:schemeClr val="dk1"/>
                </a:solidFill>
              </a:rPr>
              <a:t>Tools</a:t>
            </a:r>
            <a:r>
              <a:rPr lang="en">
                <a:solidFill>
                  <a:schemeClr val="dk1"/>
                </a:solidFill>
              </a:rPr>
              <a:t>—including a </a:t>
            </a:r>
            <a:r>
              <a:rPr b="1" lang="en">
                <a:solidFill>
                  <a:schemeClr val="dk1"/>
                </a:solidFill>
              </a:rPr>
              <a:t>RAG</a:t>
            </a:r>
            <a:r>
              <a:rPr lang="en">
                <a:solidFill>
                  <a:schemeClr val="dk1"/>
                </a:solidFill>
              </a:rPr>
              <a:t> (Retrieval-Augmented Generation) search for specialized knowledge and utility functions—to ensure responses are accurate and grounded in external data.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Memory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ConversationBufferWindowMemory</a:t>
            </a:r>
            <a:r>
              <a:rPr lang="en">
                <a:solidFill>
                  <a:schemeClr val="dk1"/>
                </a:solidFill>
              </a:rPr>
              <a:t> maintains conversational context by storing the last five turns, enabling the agent to handle multi-step queries and provide coherent, personalized advice.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V2</a:t>
            </a:r>
            <a:r>
              <a:rPr lang="en">
                <a:solidFill>
                  <a:schemeClr val="dk1"/>
                </a:solidFill>
              </a:rPr>
              <a:t> successfully incorporates lanchain memory because it uses the official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initialize_agent</a:t>
            </a:r>
            <a:r>
              <a:rPr lang="en">
                <a:solidFill>
                  <a:schemeClr val="dk1"/>
                </a:solidFill>
              </a:rPr>
              <a:t> function and passes a configured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ConversationBufferWindowMemory</a:t>
            </a:r>
            <a:r>
              <a:rPr lang="en">
                <a:solidFill>
                  <a:schemeClr val="dk1"/>
                </a:solidFill>
              </a:rPr>
              <a:t> object directly to it.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b29caa05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0b29caa05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b29caa05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0b29caa05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Agent leverages a four-step LangChain Runnable Chain, OpenAI's gpt-3.5-turbo, a Pinecone Vector Database, and several custom tools to provide safe, practical fitness advice. The system incorporates a manual sliding window memory, a detailed prompt template, and is deployed using Streamlit with LangSmith tracing enabled for observability.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d28d1ea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d28d1ea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V2 AgentExecutor</a:t>
            </a:r>
            <a:r>
              <a:rPr lang="en">
                <a:solidFill>
                  <a:schemeClr val="dk1"/>
                </a:solidFill>
              </a:rPr>
              <a:t> uses the </a:t>
            </a:r>
            <a:r>
              <a:rPr b="1" lang="en">
                <a:solidFill>
                  <a:schemeClr val="dk1"/>
                </a:solidFill>
              </a:rPr>
              <a:t>ReAct</a:t>
            </a:r>
            <a:r>
              <a:rPr lang="en">
                <a:solidFill>
                  <a:schemeClr val="dk1"/>
                </a:solidFill>
              </a:rPr>
              <a:t> framework to dynamically decide between various tasks.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maintains continuous conversation </a:t>
            </a:r>
            <a:r>
              <a:rPr b="1" lang="en">
                <a:solidFill>
                  <a:schemeClr val="dk1"/>
                </a:solidFill>
              </a:rPr>
              <a:t>Memory</a:t>
            </a:r>
            <a:r>
              <a:rPr lang="en">
                <a:solidFill>
                  <a:schemeClr val="dk1"/>
                </a:solidFill>
              </a:rPr>
              <a:t> via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ConversationBufferWindowMemory</a:t>
            </a:r>
            <a:r>
              <a:rPr lang="en">
                <a:solidFill>
                  <a:schemeClr val="dk1"/>
                </a:solidFill>
              </a:rPr>
              <a:t>, ensuring personalized and stateful interactions. Specialized </a:t>
            </a:r>
            <a:r>
              <a:rPr b="1" lang="en">
                <a:solidFill>
                  <a:schemeClr val="dk1"/>
                </a:solidFill>
              </a:rPr>
              <a:t>Tools</a:t>
            </a:r>
            <a:r>
              <a:rPr lang="en">
                <a:solidFill>
                  <a:schemeClr val="dk1"/>
                </a:solidFill>
              </a:rPr>
              <a:t>—including a RAG search for external knowledge and utility functions. The </a:t>
            </a:r>
            <a:r>
              <a:rPr b="1" lang="en">
                <a:solidFill>
                  <a:schemeClr val="dk1"/>
                </a:solidFill>
              </a:rPr>
              <a:t>ReAct (Reasoning and Acting)</a:t>
            </a:r>
            <a:r>
              <a:rPr lang="en">
                <a:solidFill>
                  <a:schemeClr val="dk1"/>
                </a:solidFill>
              </a:rPr>
              <a:t> structure is </a:t>
            </a:r>
            <a:r>
              <a:rPr b="1" lang="en">
                <a:solidFill>
                  <a:schemeClr val="dk1"/>
                </a:solidFill>
              </a:rPr>
              <a:t>enforced</a:t>
            </a:r>
            <a:r>
              <a:rPr lang="en">
                <a:solidFill>
                  <a:schemeClr val="dk1"/>
                </a:solidFill>
              </a:rPr>
              <a:t> by the </a:t>
            </a:r>
            <a:r>
              <a:rPr b="1" lang="en">
                <a:solidFill>
                  <a:schemeClr val="dk1"/>
                </a:solidFill>
              </a:rPr>
              <a:t>Zero-Shot Description</a:t>
            </a:r>
            <a:r>
              <a:rPr lang="en">
                <a:solidFill>
                  <a:schemeClr val="dk1"/>
                </a:solidFill>
              </a:rPr>
              <a:t> agent type.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b29caa05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0b29caa05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b29caa05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0b29caa05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12204f83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12204f83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c512b3f39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c512b3f3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0b29caa05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0b29caa05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914400" y="17145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BodyLogic</a:t>
            </a:r>
            <a:endParaRPr/>
          </a:p>
        </p:txBody>
      </p:sp>
      <p:sp>
        <p:nvSpPr>
          <p:cNvPr id="131" name="Google Shape;131;p25"/>
          <p:cNvSpPr txBox="1"/>
          <p:nvPr/>
        </p:nvSpPr>
        <p:spPr>
          <a:xfrm>
            <a:off x="914400" y="2697485"/>
            <a:ext cx="7315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cap="none" strike="noStrike">
                <a:solidFill>
                  <a:srgbClr val="E6E6E6"/>
                </a:solidFill>
                <a:latin typeface="Roboto"/>
                <a:ea typeface="Roboto"/>
                <a:cs typeface="Roboto"/>
                <a:sym typeface="Roboto"/>
              </a:rPr>
              <a:t>Your Personal Health &amp; Fitness AI Agent</a:t>
            </a:r>
            <a:endParaRPr b="0" i="0" sz="3200" u="none" cap="none" strike="noStrike">
              <a:solidFill>
                <a:srgbClr val="E6E6E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E6E6E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2" name="Google Shape;132;p25"/>
          <p:cNvGrpSpPr/>
          <p:nvPr/>
        </p:nvGrpSpPr>
        <p:grpSpPr>
          <a:xfrm>
            <a:off x="5443400" y="900725"/>
            <a:ext cx="1456950" cy="2824375"/>
            <a:chOff x="5443400" y="900725"/>
            <a:chExt cx="1456950" cy="2824375"/>
          </a:xfrm>
        </p:grpSpPr>
        <p:sp>
          <p:nvSpPr>
            <p:cNvPr id="133" name="Google Shape;133;p25"/>
            <p:cNvSpPr/>
            <p:nvPr/>
          </p:nvSpPr>
          <p:spPr>
            <a:xfrm>
              <a:off x="5443400" y="2024829"/>
              <a:ext cx="661500" cy="658500"/>
            </a:xfrm>
            <a:prstGeom prst="ellipse">
              <a:avLst/>
            </a:prstGeom>
            <a:noFill/>
            <a:ln cap="flat" cmpd="sng" w="483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050" lIns="58050" spcFirstLastPara="1" rIns="58050" wrap="square" tIns="58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9"/>
            </a:p>
          </p:txBody>
        </p:sp>
        <p:sp>
          <p:nvSpPr>
            <p:cNvPr id="134" name="Google Shape;134;p25"/>
            <p:cNvSpPr txBox="1"/>
            <p:nvPr/>
          </p:nvSpPr>
          <p:spPr>
            <a:xfrm>
              <a:off x="5534584" y="2076588"/>
              <a:ext cx="9348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8050" lIns="58050" spcFirstLastPara="1" rIns="58050" wrap="square" tIns="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28">
                  <a:solidFill>
                    <a:schemeClr val="lt1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BL</a:t>
              </a:r>
              <a:endParaRPr sz="2728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pic>
          <p:nvPicPr>
            <p:cNvPr id="135" name="Google Shape;135;p25" title="[CITYPNG.COM]Heart Rate Pulse White Icon PNG - 600x600.png"/>
            <p:cNvPicPr preferRelativeResize="0"/>
            <p:nvPr/>
          </p:nvPicPr>
          <p:blipFill rotWithShape="1">
            <a:blip r:embed="rId3">
              <a:alphaModFix/>
            </a:blip>
            <a:srcRect b="0" l="0" r="66902" t="0"/>
            <a:stretch/>
          </p:blipFill>
          <p:spPr>
            <a:xfrm>
              <a:off x="5965550" y="900725"/>
              <a:ext cx="934800" cy="2824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Overview</a:t>
            </a:r>
            <a:endParaRPr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228875" y="2456829"/>
            <a:ext cx="8520600" cy="3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ctr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Imagine a friendly online coach that provides health advice on these topics using up to date, handpicked videos from Youtube…”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Welcome to BodyLogic.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621200" y="1242400"/>
            <a:ext cx="2567700" cy="18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1. Under </a:t>
            </a:r>
            <a:r>
              <a:rPr b="1"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Exercising</a:t>
            </a:r>
            <a:endParaRPr b="1"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36% of UK adults do not meet exercise guidelines.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3188900" y="1252750"/>
            <a:ext cx="29817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2. Excess Calories</a:t>
            </a:r>
            <a:endParaRPr b="1"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Public Health England has estimated that adults in England are eating roughly 200–300 excess calories per day.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233675" y="1159550"/>
            <a:ext cx="2515800" cy="19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3. Unknown Intake</a:t>
            </a:r>
            <a:b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Surveys show that only about 20–35% of adults can correctly identify the recommended daily calorie intake.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46" name="Google Shape;146;p26"/>
          <p:cNvGrpSpPr/>
          <p:nvPr/>
        </p:nvGrpSpPr>
        <p:grpSpPr>
          <a:xfrm>
            <a:off x="4076630" y="3882458"/>
            <a:ext cx="825071" cy="1599444"/>
            <a:chOff x="5443400" y="900725"/>
            <a:chExt cx="1456950" cy="2824375"/>
          </a:xfrm>
        </p:grpSpPr>
        <p:sp>
          <p:nvSpPr>
            <p:cNvPr id="147" name="Google Shape;147;p26"/>
            <p:cNvSpPr/>
            <p:nvPr/>
          </p:nvSpPr>
          <p:spPr>
            <a:xfrm>
              <a:off x="5443400" y="2024829"/>
              <a:ext cx="661500" cy="658500"/>
            </a:xfrm>
            <a:prstGeom prst="ellipse">
              <a:avLst/>
            </a:prstGeom>
            <a:noFill/>
            <a:ln cap="flat" cmpd="sng" w="273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875" lIns="32875" spcFirstLastPara="1" rIns="32875" wrap="square" tIns="3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18"/>
            </a:p>
          </p:txBody>
        </p:sp>
        <p:sp>
          <p:nvSpPr>
            <p:cNvPr id="148" name="Google Shape;148;p26"/>
            <p:cNvSpPr txBox="1"/>
            <p:nvPr/>
          </p:nvSpPr>
          <p:spPr>
            <a:xfrm>
              <a:off x="5534584" y="2076588"/>
              <a:ext cx="9348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2875" lIns="32875" spcFirstLastPara="1" rIns="32875" wrap="square" tIns="3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45">
                  <a:solidFill>
                    <a:schemeClr val="lt1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BL</a:t>
              </a:r>
              <a:endParaRPr sz="1545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pic>
          <p:nvPicPr>
            <p:cNvPr id="149" name="Google Shape;149;p26" title="[CITYPNG.COM]Heart Rate Pulse White Icon PNG - 600x600.png"/>
            <p:cNvPicPr preferRelativeResize="0"/>
            <p:nvPr/>
          </p:nvPicPr>
          <p:blipFill rotWithShape="1">
            <a:blip r:embed="rId3">
              <a:alphaModFix/>
            </a:blip>
            <a:srcRect b="0" l="0" r="66902" t="0"/>
            <a:stretch/>
          </p:blipFill>
          <p:spPr>
            <a:xfrm>
              <a:off x="5965550" y="900725"/>
              <a:ext cx="934800" cy="2824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27" title="Gemini_Generated_Image_18p43v18p43v18p4.png"/>
          <p:cNvPicPr preferRelativeResize="0"/>
          <p:nvPr/>
        </p:nvPicPr>
        <p:blipFill rotWithShape="1">
          <a:blip r:embed="rId3">
            <a:alphaModFix/>
          </a:blip>
          <a:srcRect b="11229" l="0" r="0" t="0"/>
          <a:stretch/>
        </p:blipFill>
        <p:spPr>
          <a:xfrm>
            <a:off x="-3" y="352008"/>
            <a:ext cx="9144001" cy="45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Technical Summary v1</a:t>
            </a:r>
            <a:endParaRPr sz="25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8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Technical Summary v2</a:t>
            </a:r>
            <a:endParaRPr sz="25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163" name="Google Shape;163;p28" title="Gemini_Generated_Image_pn53ylpn53ylpn53.png"/>
          <p:cNvPicPr preferRelativeResize="0"/>
          <p:nvPr/>
        </p:nvPicPr>
        <p:blipFill rotWithShape="1">
          <a:blip r:embed="rId3">
            <a:alphaModFix/>
          </a:blip>
          <a:srcRect b="12103" l="0" r="0" t="10461"/>
          <a:stretch/>
        </p:blipFill>
        <p:spPr>
          <a:xfrm>
            <a:off x="0" y="1555000"/>
            <a:ext cx="9001101" cy="358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Dataset and Processing (v1 and v2)</a:t>
            </a:r>
            <a:endParaRPr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70" name="Google Shape;170;p29"/>
          <p:cNvSpPr txBox="1"/>
          <p:nvPr/>
        </p:nvSpPr>
        <p:spPr>
          <a:xfrm>
            <a:off x="486600" y="1138850"/>
            <a:ext cx="2381400" cy="3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1. Data Selection and ingestion</a:t>
            </a:r>
            <a:endParaRPr sz="15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Data comes from expertly curated Youtube videos focusing on health and fitness.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data processing uses the specialized </a:t>
            </a: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YouTubeTranscriptApi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library.</a:t>
            </a:r>
            <a:b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3307950" y="1138850"/>
            <a:ext cx="2474400" cy="24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2. Processing</a:t>
            </a:r>
            <a:endParaRPr sz="15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This broke it into overlapping chunks of about 500 characters with 50‑character overlap.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6222300" y="1138850"/>
            <a:ext cx="2526300" cy="30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 Vectorization</a:t>
            </a:r>
            <a:endParaRPr sz="15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processed data is converted into vectors and stored in the Pinecone Vector Database using the all-mpnet-base-v2 model - a good all round model for semantic search.</a:t>
            </a:r>
            <a:b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Q&amp;A Agent v1</a:t>
            </a:r>
            <a:endParaRPr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79" name="Google Shape;179;p30"/>
          <p:cNvSpPr txBox="1"/>
          <p:nvPr/>
        </p:nvSpPr>
        <p:spPr>
          <a:xfrm>
            <a:off x="333250" y="1171500"/>
            <a:ext cx="2680500" cy="38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1. General Architecture</a:t>
            </a:r>
            <a:endParaRPr sz="17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End-to-End Workflow:</a:t>
            </a:r>
            <a:b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4 -Step 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LangChain Runnable Chain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Core reasoning:</a:t>
            </a:r>
            <a:b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OpenAI's gpt-3.5-turbo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RAG Retrieval: </a:t>
            </a:r>
            <a:b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Uses a SentenceTransformer (all-mpnet-base-v2) to embed the user's query and retrieve context from the Vector Database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Tools: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LLM can access and execute tools in the chain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30"/>
          <p:cNvSpPr txBox="1"/>
          <p:nvPr/>
        </p:nvSpPr>
        <p:spPr>
          <a:xfrm>
            <a:off x="3144700" y="1171500"/>
            <a:ext cx="2578500" cy="27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2</a:t>
            </a: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. Memory and Vector DB</a:t>
            </a:r>
            <a:endParaRPr sz="17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Memory:</a:t>
            </a:r>
            <a:b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global Python list stores the last 20 messages as conversation history.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Vector Database:</a:t>
            </a:r>
            <a:b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Pinecone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30"/>
          <p:cNvSpPr txBox="1"/>
          <p:nvPr/>
        </p:nvSpPr>
        <p:spPr>
          <a:xfrm>
            <a:off x="5854150" y="1171500"/>
            <a:ext cx="3157800" cy="41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</a:t>
            </a: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.</a:t>
            </a: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Prompt Template: </a:t>
            </a:r>
            <a:endParaRPr sz="17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System Message is the main prompt template, setting the agent's identity and providing strict instructions: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Persona: 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"friendly, evidence-based personal trainer and RAG assistant."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Give safe, practical fitness advice and explain reasoning clearly.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Contextual Rule: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"Always use the retrieved knowledge base context when it is relevant."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Tool Use Rules: 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Contains explicit, mandatory rules for when to call each of the five custom tools (e.g., "you MUST call the estimate_targets tool" for macro queries).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Q&amp;A Agent v2</a:t>
            </a:r>
            <a:endParaRPr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88" name="Google Shape;188;p31"/>
          <p:cNvSpPr txBox="1"/>
          <p:nvPr/>
        </p:nvSpPr>
        <p:spPr>
          <a:xfrm>
            <a:off x="221000" y="1080712"/>
            <a:ext cx="3157800" cy="45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1. General Architecture</a:t>
            </a:r>
            <a:endParaRPr sz="17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End-to-End Workflow: </a:t>
            </a:r>
            <a:r>
              <a:rPr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LangChain AgentExecutor (Initialized withAgentType.ZERO_SHOT_REACT_DESCRIPTION)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Core reasoning: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>
                <a:solidFill>
                  <a:schemeClr val="lt1"/>
                </a:solidFill>
              </a:rPr>
              <a:t>Agent  uses the </a:t>
            </a:r>
            <a:r>
              <a:rPr b="1" lang="en" sz="1100">
                <a:solidFill>
                  <a:schemeClr val="lt1"/>
                </a:solidFill>
              </a:rPr>
              <a:t>ReAct (Reasoning and Acting)</a:t>
            </a:r>
            <a:r>
              <a:rPr lang="en" sz="1100">
                <a:solidFill>
                  <a:schemeClr val="lt1"/>
                </a:solidFill>
              </a:rPr>
              <a:t> framework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RAG Retrieval: 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Uses a SentenceTransformer (</a:t>
            </a:r>
            <a:r>
              <a:rPr lang="en" sz="1100">
                <a:solidFill>
                  <a:schemeClr val="lt1"/>
                </a:solidFill>
              </a:rPr>
              <a:t>(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flax-sentence-embeddings/all_datasets_v3_mpnet-base</a:t>
            </a:r>
            <a:r>
              <a:rPr lang="en" sz="1100">
                <a:solidFill>
                  <a:schemeClr val="lt1"/>
                </a:solidFill>
              </a:rPr>
              <a:t>).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 to embed the user's query and retrieve context from the Vector Database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Tools: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100">
                <a:solidFill>
                  <a:schemeClr val="lt1"/>
                </a:solidFill>
              </a:rPr>
              <a:t>The LLM can access and execute </a:t>
            </a:r>
            <a:r>
              <a:rPr b="1" lang="en" sz="1100">
                <a:solidFill>
                  <a:schemeClr val="lt1"/>
                </a:solidFill>
              </a:rPr>
              <a:t>four explicit tools</a:t>
            </a:r>
            <a:r>
              <a:rPr lang="en" sz="1100">
                <a:solidFill>
                  <a:schemeClr val="lt1"/>
                </a:solidFill>
              </a:rPr>
              <a:t> 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1"/>
          <p:cNvSpPr txBox="1"/>
          <p:nvPr/>
        </p:nvSpPr>
        <p:spPr>
          <a:xfrm>
            <a:off x="3513375" y="1080700"/>
            <a:ext cx="2206200" cy="27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2. Memory and Vector DB</a:t>
            </a:r>
            <a:endParaRPr sz="17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Memory:</a:t>
            </a:r>
            <a:b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ConversationBufferWindowMemory with a window size of $k=5$. 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This means the agent retains the last five turns of the conversation history.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AgentExecutor is responsible for automatically retrieving this history from the memory object and injecting it into the LLM's prompt as the chat_history variable for every turn. This ensures the agent maintains context.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Vector Database:</a:t>
            </a:r>
            <a:b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Pinecone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1"/>
          <p:cNvSpPr txBox="1"/>
          <p:nvPr/>
        </p:nvSpPr>
        <p:spPr>
          <a:xfrm>
            <a:off x="5854150" y="1171500"/>
            <a:ext cx="3157800" cy="41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 Prompt Template: </a:t>
            </a:r>
            <a:endParaRPr sz="17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System Message is the main prompt template, setting the agent's identity and providing strict instructions: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Persona: 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"friendly, evidence-based personal trainer and RAG assistant."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Give safe, practical fitness advice and explain reasoning clearly.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Contextual Rule: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"Always use the retrieved knowledge base context when it is relevant."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Tool Use Rules: 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Contains explicit, mandatory rules for when to call each of the five custom tools (e.g., "you MUST call the estimate_targets tool" for macro queries).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Tools </a:t>
            </a:r>
            <a:endParaRPr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97" name="Google Shape;197;p32"/>
          <p:cNvSpPr txBox="1"/>
          <p:nvPr/>
        </p:nvSpPr>
        <p:spPr>
          <a:xfrm>
            <a:off x="577925" y="1314775"/>
            <a:ext cx="3994200" cy="3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Database</a:t>
            </a: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Pinecone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knowledge base is built from the transcripts and content of selected YouTube videos.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raw video content was processed (transcribed, chunked, and then converted into dense numerical vectors) using an embedding model sentence-transformers/all-mpnet-base-v2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general-purpose model from the Hugging Face ecosystem, specifically designed for creating embeddings that capture the semantic meaning of text.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198" name="Google Shape;198;p32"/>
          <p:cNvSpPr txBox="1"/>
          <p:nvPr/>
        </p:nvSpPr>
        <p:spPr>
          <a:xfrm>
            <a:off x="4883425" y="1343675"/>
            <a:ext cx="3948900" cy="29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Tools:</a:t>
            </a:r>
            <a:endParaRPr sz="17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Calorie and/or Macro Target Calculation. </a:t>
            </a:r>
            <a:b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tool is engineered to estimate a user's target calorie and/or macronutrient intake.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 takes structured inputs (like age, weight, activity level) and returns a structured output (estimated calorie/macro numbers).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If a user Submits the query: "I am a 50 year old male 80kg what should be my calories targets be? “  The LLM 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decides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to use the 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estimator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tool and then gives back a friendly response to the user.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Evaluation</a:t>
            </a:r>
            <a:endParaRPr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05" name="Google Shape;205;p33"/>
          <p:cNvSpPr txBox="1"/>
          <p:nvPr/>
        </p:nvSpPr>
        <p:spPr>
          <a:xfrm>
            <a:off x="504275" y="1512800"/>
            <a:ext cx="24672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1. Qualitative Testing:</a:t>
            </a:r>
            <a:endParaRPr sz="17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I used  test “Demo Prompts"</a:t>
            </a:r>
            <a:r>
              <a:rPr lang="en" sz="1200">
                <a:solidFill>
                  <a:schemeClr val="lt1"/>
                </a:solidFill>
              </a:rPr>
              <a:t> that serve as a basic test suite, covering RAG, tool use, and conversational memory to see if it was working as expected.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206" name="Google Shape;206;p33"/>
          <p:cNvSpPr txBox="1"/>
          <p:nvPr/>
        </p:nvSpPr>
        <p:spPr>
          <a:xfrm>
            <a:off x="3386400" y="1433450"/>
            <a:ext cx="2371200" cy="3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2. Traceability and Debugging:</a:t>
            </a:r>
            <a:endParaRPr sz="17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LangSmith is used to log, visualize, and analyze every step of the LangChain RunnableSequence.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 used this to check if my tools were being called and then adjusted the 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system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prompt when they were not.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07" name="Google Shape;207;p33"/>
          <p:cNvSpPr txBox="1"/>
          <p:nvPr/>
        </p:nvSpPr>
        <p:spPr>
          <a:xfrm>
            <a:off x="6172525" y="1433450"/>
            <a:ext cx="23712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 Performance metrics</a:t>
            </a:r>
            <a:endParaRPr sz="17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Performance metrics tracked in Langsmith such as  the Latency and the tokens used.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Conclusion</a:t>
            </a:r>
            <a:endParaRPr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14" name="Google Shape;214;p34"/>
          <p:cNvSpPr txBox="1"/>
          <p:nvPr/>
        </p:nvSpPr>
        <p:spPr>
          <a:xfrm>
            <a:off x="528000" y="1915350"/>
            <a:ext cx="2370900" cy="17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BodyLogic makes expert fitness advice from videos accessible to those who prefer reading or quick answers over watching entire videos.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5" name="Google Shape;215;p34"/>
          <p:cNvSpPr txBox="1"/>
          <p:nvPr/>
        </p:nvSpPr>
        <p:spPr>
          <a:xfrm>
            <a:off x="3142188" y="1915350"/>
            <a:ext cx="2671200" cy="19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 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nables efficient indexing and searching, and empowers you to instantly finds specific information from the expertly curated video knowledge on important health challenges many people face.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6" name="Google Shape;216;p34"/>
          <p:cNvSpPr txBox="1"/>
          <p:nvPr/>
        </p:nvSpPr>
        <p:spPr>
          <a:xfrm>
            <a:off x="6201625" y="1915350"/>
            <a:ext cx="2370900" cy="15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 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gives safe, practical fitness advice, tailors suggestions to the user's level and goals, and clearly explains reasoning in simple language.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217" name="Google Shape;217;p34"/>
          <p:cNvGrpSpPr/>
          <p:nvPr/>
        </p:nvGrpSpPr>
        <p:grpSpPr>
          <a:xfrm>
            <a:off x="4076630" y="3727159"/>
            <a:ext cx="825071" cy="1599444"/>
            <a:chOff x="5443400" y="900725"/>
            <a:chExt cx="1456950" cy="2824375"/>
          </a:xfrm>
        </p:grpSpPr>
        <p:sp>
          <p:nvSpPr>
            <p:cNvPr id="218" name="Google Shape;218;p34"/>
            <p:cNvSpPr/>
            <p:nvPr/>
          </p:nvSpPr>
          <p:spPr>
            <a:xfrm>
              <a:off x="5443400" y="2024829"/>
              <a:ext cx="661500" cy="658500"/>
            </a:xfrm>
            <a:prstGeom prst="ellipse">
              <a:avLst/>
            </a:prstGeom>
            <a:noFill/>
            <a:ln cap="flat" cmpd="sng" w="273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875" lIns="32875" spcFirstLastPara="1" rIns="32875" wrap="square" tIns="3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18"/>
            </a:p>
          </p:txBody>
        </p:sp>
        <p:sp>
          <p:nvSpPr>
            <p:cNvPr id="219" name="Google Shape;219;p34"/>
            <p:cNvSpPr txBox="1"/>
            <p:nvPr/>
          </p:nvSpPr>
          <p:spPr>
            <a:xfrm>
              <a:off x="5534584" y="2076588"/>
              <a:ext cx="9348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2875" lIns="32875" spcFirstLastPara="1" rIns="32875" wrap="square" tIns="3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45">
                  <a:solidFill>
                    <a:schemeClr val="lt1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BL</a:t>
              </a:r>
              <a:endParaRPr sz="1545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pic>
          <p:nvPicPr>
            <p:cNvPr id="220" name="Google Shape;220;p34" title="[CITYPNG.COM]Heart Rate Pulse White Icon PNG - 600x600.png"/>
            <p:cNvPicPr preferRelativeResize="0"/>
            <p:nvPr/>
          </p:nvPicPr>
          <p:blipFill rotWithShape="1">
            <a:blip r:embed="rId3">
              <a:alphaModFix/>
            </a:blip>
            <a:srcRect b="0" l="0" r="66902" t="0"/>
            <a:stretch/>
          </p:blipFill>
          <p:spPr>
            <a:xfrm>
              <a:off x="5965550" y="900725"/>
              <a:ext cx="934800" cy="2824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Learning and Next steps</a:t>
            </a:r>
            <a:endParaRPr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27" name="Google Shape;22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Further iterations of this could be:-</a:t>
            </a:r>
            <a:endParaRPr sz="14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Improved memory done in v2 yay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Deploy as an API endpoint using AWS App Runner and a custom front end.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Try different types of content in the Vector DB.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Private RAG system with the Database and the User queries in a VPC.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more efficient data ingestion system.</a:t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/>
          <p:nvPr/>
        </p:nvSpPr>
        <p:spPr>
          <a:xfrm>
            <a:off x="-10349" y="-10354"/>
            <a:ext cx="9144000" cy="5143500"/>
          </a:xfrm>
          <a:prstGeom prst="rect">
            <a:avLst/>
          </a:prstGeom>
          <a:gradFill>
            <a:gsLst>
              <a:gs pos="0">
                <a:srgbClr val="141928"/>
              </a:gs>
              <a:gs pos="100000">
                <a:srgbClr val="00B4DC"/>
              </a:gs>
            </a:gsLst>
            <a:lin ang="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3" name="Google Shape;233;p36"/>
          <p:cNvGrpSpPr/>
          <p:nvPr/>
        </p:nvGrpSpPr>
        <p:grpSpPr>
          <a:xfrm>
            <a:off x="4702850" y="1107783"/>
            <a:ext cx="1456950" cy="2824375"/>
            <a:chOff x="5443400" y="900725"/>
            <a:chExt cx="1456950" cy="2824375"/>
          </a:xfrm>
        </p:grpSpPr>
        <p:sp>
          <p:nvSpPr>
            <p:cNvPr id="234" name="Google Shape;234;p36"/>
            <p:cNvSpPr/>
            <p:nvPr/>
          </p:nvSpPr>
          <p:spPr>
            <a:xfrm>
              <a:off x="5443400" y="2024829"/>
              <a:ext cx="661500" cy="658500"/>
            </a:xfrm>
            <a:prstGeom prst="ellipse">
              <a:avLst/>
            </a:prstGeom>
            <a:noFill/>
            <a:ln cap="flat" cmpd="sng" w="483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050" lIns="58050" spcFirstLastPara="1" rIns="58050" wrap="square" tIns="58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9"/>
            </a:p>
          </p:txBody>
        </p:sp>
        <p:sp>
          <p:nvSpPr>
            <p:cNvPr id="235" name="Google Shape;235;p36"/>
            <p:cNvSpPr txBox="1"/>
            <p:nvPr/>
          </p:nvSpPr>
          <p:spPr>
            <a:xfrm>
              <a:off x="5534584" y="2076588"/>
              <a:ext cx="9348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8050" lIns="58050" spcFirstLastPara="1" rIns="58050" wrap="square" tIns="5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28">
                  <a:solidFill>
                    <a:schemeClr val="lt1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BL</a:t>
              </a:r>
              <a:endParaRPr sz="2728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pic>
          <p:nvPicPr>
            <p:cNvPr id="236" name="Google Shape;236;p36" title="[CITYPNG.COM]Heart Rate Pulse White Icon PNG - 600x600.png"/>
            <p:cNvPicPr preferRelativeResize="0"/>
            <p:nvPr/>
          </p:nvPicPr>
          <p:blipFill rotWithShape="1">
            <a:blip r:embed="rId3">
              <a:alphaModFix/>
            </a:blip>
            <a:srcRect b="0" l="0" r="66902" t="0"/>
            <a:stretch/>
          </p:blipFill>
          <p:spPr>
            <a:xfrm>
              <a:off x="5965550" y="900725"/>
              <a:ext cx="934800" cy="2824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" name="Google Shape;237;p36"/>
          <p:cNvSpPr txBox="1"/>
          <p:nvPr/>
        </p:nvSpPr>
        <p:spPr>
          <a:xfrm>
            <a:off x="2715201" y="1890500"/>
            <a:ext cx="3051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